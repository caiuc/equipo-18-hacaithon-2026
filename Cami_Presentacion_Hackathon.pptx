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2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9772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1B3B5F">
              <a:alpha val="60000"/>
            </a:srgbClr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Shape 1"/>
          <p:cNvSpPr/>
          <p:nvPr/>
        </p:nvSpPr>
        <p:spPr>
          <a:xfrm>
            <a:off x="10332720" y="3291840"/>
            <a:ext cx="3291840" cy="3291840"/>
          </a:xfrm>
          <a:prstGeom prst="ellipse">
            <a:avLst/>
          </a:prstGeom>
          <a:solidFill>
            <a:srgbClr val="4FA8A0">
              <a:alpha val="25000"/>
            </a:srgbClr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4" name="Shape 2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E2543A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5" name="Image 0" descr="icons/heartbe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13" y="97269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6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</a:t>
            </a:r>
            <a:endParaRPr lang="es-CL" sz="6600" noProof="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200" noProof="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voz para el seguimiento cardiovascular en los CESFAM</a:t>
            </a:r>
            <a:endParaRPr lang="es-CL" sz="2200" noProof="0" dirty="0"/>
          </a:p>
        </p:txBody>
      </p:sp>
      <p:sp>
        <p:nvSpPr>
          <p:cNvPr id="8" name="Text 5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i="1" noProof="0" dirty="0">
                <a:solidFill>
                  <a:srgbClr val="4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proyecto de hackathon para salud pública en Chile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40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salud pública?</a:t>
            </a:r>
            <a:endParaRPr lang="es-CL" sz="34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Elegimos este ámbito porque es donde se atiende la mayoría de las personas en Chile — y todavía hay mucho espacio para mejorar.</a:t>
            </a:r>
            <a:endParaRPr lang="es-CL" sz="16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3B5F">
                <a:alpha val="1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960120" y="2606040"/>
            <a:ext cx="731520" cy="731520"/>
          </a:xfrm>
          <a:prstGeom prst="ellipse">
            <a:avLst/>
          </a:prstGeom>
          <a:solidFill>
            <a:srgbClr val="1B3B5F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6" name="Image 0" descr="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054" y="276697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52044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masiva</a:t>
            </a:r>
            <a:endParaRPr lang="es-CL" sz="1700" noProof="0" dirty="0"/>
          </a:p>
        </p:txBody>
      </p:sp>
      <p:sp>
        <p:nvSpPr>
          <p:cNvPr id="8" name="Text 5"/>
          <p:cNvSpPr/>
          <p:nvPr/>
        </p:nvSpPr>
        <p:spPr>
          <a:xfrm>
            <a:off x="960120" y="4023360"/>
            <a:ext cx="27523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25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salud pública atiende a la mayoría de la población chilena, incluidos los grupos más vulnerables.</a:t>
            </a:r>
            <a:endParaRPr lang="es-CL" sz="1250" noProof="0" dirty="0"/>
          </a:p>
        </p:txBody>
      </p:sp>
      <p:sp>
        <p:nvSpPr>
          <p:cNvPr id="9" name="Shape 6"/>
          <p:cNvSpPr/>
          <p:nvPr/>
        </p:nvSpPr>
        <p:spPr>
          <a:xfrm>
            <a:off x="4398264" y="228600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3B5F">
                <a:alpha val="1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7"/>
          <p:cNvSpPr/>
          <p:nvPr/>
        </p:nvSpPr>
        <p:spPr>
          <a:xfrm>
            <a:off x="4718304" y="2606040"/>
            <a:ext cx="731520" cy="731520"/>
          </a:xfrm>
          <a:prstGeom prst="ellipse">
            <a:avLst/>
          </a:prstGeom>
          <a:solidFill>
            <a:srgbClr val="1B3B5F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1" name="Image 1" descr="icons/heartbea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238" y="276697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18304" y="352044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en salud</a:t>
            </a:r>
            <a:endParaRPr lang="es-CL" sz="1700" noProof="0" dirty="0"/>
          </a:p>
        </p:txBody>
      </p:sp>
      <p:sp>
        <p:nvSpPr>
          <p:cNvPr id="13" name="Text 9"/>
          <p:cNvSpPr/>
          <p:nvPr/>
        </p:nvSpPr>
        <p:spPr>
          <a:xfrm>
            <a:off x="4718304" y="4023360"/>
            <a:ext cx="27523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25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a prueba nuestras habilidades en un problema real, con impacto directo en la vida de las personas.</a:t>
            </a:r>
            <a:endParaRPr lang="es-CL" sz="1250" noProof="0" dirty="0"/>
          </a:p>
        </p:txBody>
      </p:sp>
      <p:sp>
        <p:nvSpPr>
          <p:cNvPr id="14" name="Shape 10"/>
          <p:cNvSpPr/>
          <p:nvPr/>
        </p:nvSpPr>
        <p:spPr>
          <a:xfrm>
            <a:off x="8156448" y="228600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3B5F">
                <a:alpha val="1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Shape 11"/>
          <p:cNvSpPr/>
          <p:nvPr/>
        </p:nvSpPr>
        <p:spPr>
          <a:xfrm>
            <a:off x="8476488" y="2606040"/>
            <a:ext cx="731520" cy="731520"/>
          </a:xfrm>
          <a:prstGeom prst="ellipse">
            <a:avLst/>
          </a:prstGeom>
          <a:solidFill>
            <a:srgbClr val="1B3B5F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6" name="Image 2" descr="icons/nur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7422" y="2766974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6488" y="352044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hay reemplazo, hay mejora</a:t>
            </a:r>
            <a:endParaRPr lang="es-CL" sz="1700" noProof="0" dirty="0"/>
          </a:p>
        </p:txBody>
      </p:sp>
      <p:sp>
        <p:nvSpPr>
          <p:cNvPr id="18" name="Text 13"/>
          <p:cNvSpPr/>
          <p:nvPr/>
        </p:nvSpPr>
        <p:spPr>
          <a:xfrm>
            <a:off x="8476488" y="4023360"/>
            <a:ext cx="27523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25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personal de salud de los CESFAM está desbordado; buscamos aliviar su carga, no reemplazarlo.</a:t>
            </a:r>
            <a:endParaRPr lang="es-CL" sz="1250" noProof="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 — Seguimiento Cardiovascular PSCV</a:t>
            </a:r>
            <a:endParaRPr lang="es-CL" sz="1000" noProof="0" dirty="0"/>
          </a:p>
        </p:txBody>
      </p:sp>
      <p:sp>
        <p:nvSpPr>
          <p:cNvPr id="20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0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L" sz="10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Programa de Salud Cardiovascular (PSCV)</a:t>
            </a:r>
            <a:endParaRPr lang="es-CL" sz="30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00" noProof="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CESFAM se controla a pacientes crónicos cardiovasculares — en su mayoría, adultos mayores.</a:t>
            </a:r>
            <a:endParaRPr lang="es-CL" sz="15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142B45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1005840" y="2377440"/>
            <a:ext cx="685800" cy="685800"/>
          </a:xfrm>
          <a:prstGeom prst="ellipse">
            <a:avLst/>
          </a:prstGeom>
          <a:solidFill>
            <a:srgbClr val="E2543A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6" name="Image 0" descr="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" y="252831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461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5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+1.000.000</a:t>
            </a:r>
            <a:endParaRPr lang="es-CL" sz="5200" noProof="0" dirty="0"/>
          </a:p>
        </p:txBody>
      </p:sp>
      <p:sp>
        <p:nvSpPr>
          <p:cNvPr id="8" name="Text 5"/>
          <p:cNvSpPr/>
          <p:nvPr/>
        </p:nvSpPr>
        <p:spPr>
          <a:xfrm>
            <a:off x="868680" y="4251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00" noProof="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bajo control cardiovascular en Chile</a:t>
            </a:r>
            <a:endParaRPr lang="es-CL" sz="1500" noProof="0" dirty="0"/>
          </a:p>
        </p:txBody>
      </p:sp>
      <p:sp>
        <p:nvSpPr>
          <p:cNvPr id="9" name="Text 6"/>
          <p:cNvSpPr/>
          <p:nvPr/>
        </p:nvSpPr>
        <p:spPr>
          <a:xfrm>
            <a:off x="868680" y="5212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150" i="1" noProof="0" dirty="0">
                <a:solidFill>
                  <a:srgbClr val="94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contexto del Programa de Salud Cardiovascular a nivel nacional.</a:t>
            </a:r>
            <a:endParaRPr lang="es-CL" sz="1150" noProof="0" dirty="0"/>
          </a:p>
        </p:txBody>
      </p:sp>
      <p:sp>
        <p:nvSpPr>
          <p:cNvPr id="10" name="Shape 7"/>
          <p:cNvSpPr/>
          <p:nvPr/>
        </p:nvSpPr>
        <p:spPr>
          <a:xfrm>
            <a:off x="6080760" y="2011680"/>
            <a:ext cx="5486400" cy="3931920"/>
          </a:xfrm>
          <a:prstGeom prst="roundRect">
            <a:avLst>
              <a:gd name="adj" fmla="val 2791"/>
            </a:avLst>
          </a:prstGeom>
          <a:solidFill>
            <a:srgbClr val="142B45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Shape 8"/>
          <p:cNvSpPr/>
          <p:nvPr/>
        </p:nvSpPr>
        <p:spPr>
          <a:xfrm>
            <a:off x="6446520" y="2377440"/>
            <a:ext cx="685800" cy="685800"/>
          </a:xfrm>
          <a:prstGeom prst="ellipse">
            <a:avLst/>
          </a:prstGeom>
          <a:solidFill>
            <a:srgbClr val="4FA8A0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2" name="Image 1" descr="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396" y="252831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46520" y="3246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Controles cada 3 a 6 meses</a:t>
            </a:r>
            <a:endParaRPr lang="es-CL" sz="2200" noProof="0" dirty="0"/>
          </a:p>
        </p:txBody>
      </p:sp>
      <p:sp>
        <p:nvSpPr>
          <p:cNvPr id="14" name="Text 10"/>
          <p:cNvSpPr/>
          <p:nvPr/>
        </p:nvSpPr>
        <p:spPr>
          <a:xfrm>
            <a:off x="6446520" y="3794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400" noProof="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el nivel de riesgo cardiovascular de cada paciente.</a:t>
            </a:r>
            <a:endParaRPr lang="es-CL" sz="1400" noProof="0" dirty="0"/>
          </a:p>
        </p:txBody>
      </p:sp>
      <p:sp>
        <p:nvSpPr>
          <p:cNvPr id="15" name="Shape 11"/>
          <p:cNvSpPr/>
          <p:nvPr/>
        </p:nvSpPr>
        <p:spPr>
          <a:xfrm>
            <a:off x="6446520" y="4434840"/>
            <a:ext cx="4754880" cy="0"/>
          </a:xfrm>
          <a:prstGeom prst="line">
            <a:avLst/>
          </a:prstGeom>
          <a:noFill/>
          <a:ln w="12700">
            <a:solidFill>
              <a:srgbClr val="35526E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 12"/>
          <p:cNvSpPr/>
          <p:nvPr/>
        </p:nvSpPr>
        <p:spPr>
          <a:xfrm>
            <a:off x="6446520" y="46634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00" i="1" noProof="0" dirty="0">
                <a:solidFill>
                  <a:srgbClr val="4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desafío está en lo que pasa entre control y control.</a:t>
            </a:r>
            <a:endParaRPr lang="es-CL" sz="1500" noProof="0" dirty="0"/>
          </a:p>
        </p:txBody>
      </p:sp>
      <p:sp>
        <p:nvSpPr>
          <p:cNvPr id="17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 — Seguimiento Cardiovascular PSCV</a:t>
            </a:r>
            <a:endParaRPr lang="es-CL" sz="1000" noProof="0" dirty="0"/>
          </a:p>
        </p:txBody>
      </p:sp>
      <p:sp>
        <p:nvSpPr>
          <p:cNvPr id="18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0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L" sz="10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20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SALUD PREVENTIVA Y NO REACTIVA</a:t>
            </a:r>
            <a:endParaRPr lang="es-CL" sz="3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seguimiento telefónico de pacientes lo hacen los enfermeros/TENS a mano — y no dan abasto.</a:t>
            </a:r>
            <a:endParaRPr lang="es-CL" sz="16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B3B5F">
                <a:alpha val="13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2423160"/>
            <a:ext cx="640080" cy="640080"/>
          </a:xfrm>
          <a:prstGeom prst="ellipse">
            <a:avLst/>
          </a:prstGeom>
          <a:solidFill>
            <a:srgbClr val="1B3B5F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6" name="Image 0" descr="icons/nur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8" y="256397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600" b="1" noProof="0" dirty="0">
                <a:solidFill>
                  <a:srgbClr val="C9D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s-CL" sz="1600" noProof="0" dirty="0"/>
          </a:p>
        </p:txBody>
      </p:sp>
      <p:sp>
        <p:nvSpPr>
          <p:cNvPr id="8" name="Text 5"/>
          <p:cNvSpPr/>
          <p:nvPr/>
        </p:nvSpPr>
        <p:spPr>
          <a:xfrm>
            <a:off x="914400" y="32004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5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 sobrecargados</a:t>
            </a:r>
            <a:endParaRPr lang="es-CL" sz="1550" noProof="0" dirty="0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15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llamadas de seguimiento se hacen manualmente, sin capacidad para cubrir a todos.</a:t>
            </a:r>
            <a:endParaRPr lang="es-CL" sz="1150" noProof="0" dirty="0"/>
          </a:p>
        </p:txBody>
      </p:sp>
      <p:sp>
        <p:nvSpPr>
          <p:cNvPr id="10" name="Text 7"/>
          <p:cNvSpPr/>
          <p:nvPr/>
        </p:nvSpPr>
        <p:spPr>
          <a:xfrm>
            <a:off x="3163824" y="361188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600" b="1" noProof="0" dirty="0">
                <a:solidFill>
                  <a:srgbClr val="B9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s-CL" sz="2600" noProof="0" dirty="0"/>
          </a:p>
        </p:txBody>
      </p:sp>
      <p:sp>
        <p:nvSpPr>
          <p:cNvPr id="11" name="Shape 8"/>
          <p:cNvSpPr/>
          <p:nvPr/>
        </p:nvSpPr>
        <p:spPr>
          <a:xfrm>
            <a:off x="3355848" y="21488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B3B5F">
                <a:alpha val="13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Shape 9"/>
          <p:cNvSpPr/>
          <p:nvPr/>
        </p:nvSpPr>
        <p:spPr>
          <a:xfrm>
            <a:off x="3630168" y="2423160"/>
            <a:ext cx="640080" cy="640080"/>
          </a:xfrm>
          <a:prstGeom prst="ellipse">
            <a:avLst/>
          </a:prstGeom>
          <a:solidFill>
            <a:srgbClr val="1B3B5F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3" name="Image 1" descr="icons/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986" y="256397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21808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600" b="1" noProof="0" dirty="0">
                <a:solidFill>
                  <a:srgbClr val="C9D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s-CL" sz="1600" noProof="0" dirty="0"/>
          </a:p>
        </p:txBody>
      </p:sp>
      <p:sp>
        <p:nvSpPr>
          <p:cNvPr id="15" name="Text 11"/>
          <p:cNvSpPr/>
          <p:nvPr/>
        </p:nvSpPr>
        <p:spPr>
          <a:xfrm>
            <a:off x="3630168" y="32004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5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riesgo alto</a:t>
            </a:r>
            <a:endParaRPr lang="es-CL" sz="1550" noProof="0" dirty="0"/>
          </a:p>
        </p:txBody>
      </p:sp>
      <p:sp>
        <p:nvSpPr>
          <p:cNvPr id="16" name="Text 12"/>
          <p:cNvSpPr/>
          <p:nvPr/>
        </p:nvSpPr>
        <p:spPr>
          <a:xfrm>
            <a:off x="3630168" y="379476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15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Alcanzan a contactar solo a los pacientes de mayor riesgo. El resto queda sin seguimiento.</a:t>
            </a:r>
            <a:endParaRPr lang="es-CL" sz="1150" noProof="0" dirty="0"/>
          </a:p>
        </p:txBody>
      </p:sp>
      <p:sp>
        <p:nvSpPr>
          <p:cNvPr id="17" name="Text 13"/>
          <p:cNvSpPr/>
          <p:nvPr/>
        </p:nvSpPr>
        <p:spPr>
          <a:xfrm>
            <a:off x="5879592" y="361188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600" b="1" noProof="0" dirty="0">
                <a:solidFill>
                  <a:srgbClr val="B9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s-CL" sz="2600" noProof="0" dirty="0"/>
          </a:p>
        </p:txBody>
      </p:sp>
      <p:sp>
        <p:nvSpPr>
          <p:cNvPr id="18" name="Shape 14"/>
          <p:cNvSpPr/>
          <p:nvPr/>
        </p:nvSpPr>
        <p:spPr>
          <a:xfrm>
            <a:off x="6071616" y="21488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B3B5F">
                <a:alpha val="13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Shape 15"/>
          <p:cNvSpPr/>
          <p:nvPr/>
        </p:nvSpPr>
        <p:spPr>
          <a:xfrm>
            <a:off x="6345936" y="2423160"/>
            <a:ext cx="640080" cy="640080"/>
          </a:xfrm>
          <a:prstGeom prst="ellipse">
            <a:avLst/>
          </a:prstGeom>
          <a:solidFill>
            <a:srgbClr val="1B3B5F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20" name="Image 2" descr="icons/clo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754" y="2563978"/>
            <a:ext cx="358445" cy="35844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37576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600" b="1" noProof="0" dirty="0">
                <a:solidFill>
                  <a:srgbClr val="C9D3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s-CL" sz="1600" noProof="0" dirty="0"/>
          </a:p>
        </p:txBody>
      </p:sp>
      <p:sp>
        <p:nvSpPr>
          <p:cNvPr id="22" name="Text 17"/>
          <p:cNvSpPr/>
          <p:nvPr/>
        </p:nvSpPr>
        <p:spPr>
          <a:xfrm>
            <a:off x="6345936" y="32004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5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Meses sin contacto</a:t>
            </a:r>
            <a:endParaRPr lang="es-CL" sz="1550" noProof="0" dirty="0"/>
          </a:p>
        </p:txBody>
      </p:sp>
      <p:sp>
        <p:nvSpPr>
          <p:cNvPr id="23" name="Text 18"/>
          <p:cNvSpPr/>
          <p:nvPr/>
        </p:nvSpPr>
        <p:spPr>
          <a:xfrm>
            <a:off x="6345936" y="379476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15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pacientes pasan meses sin ningún tipo de control entre una hora y otra.</a:t>
            </a:r>
            <a:endParaRPr lang="es-CL" sz="1150" noProof="0" dirty="0"/>
          </a:p>
        </p:txBody>
      </p:sp>
      <p:sp>
        <p:nvSpPr>
          <p:cNvPr id="24" name="Text 19"/>
          <p:cNvSpPr/>
          <p:nvPr/>
        </p:nvSpPr>
        <p:spPr>
          <a:xfrm>
            <a:off x="8595360" y="361188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600" b="1" noProof="0" dirty="0">
                <a:solidFill>
                  <a:srgbClr val="B9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s-CL" sz="2600" noProof="0" dirty="0"/>
          </a:p>
        </p:txBody>
      </p:sp>
      <p:sp>
        <p:nvSpPr>
          <p:cNvPr id="25" name="Shape 20"/>
          <p:cNvSpPr/>
          <p:nvPr/>
        </p:nvSpPr>
        <p:spPr>
          <a:xfrm>
            <a:off x="8787384" y="21488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E2543A"/>
          </a:solidFill>
          <a:ln/>
          <a:effectLst>
            <a:outerShdw blurRad="88900" dist="38100" dir="5400000" algn="bl" rotWithShape="0">
              <a:srgbClr val="1B3B5F">
                <a:alpha val="13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Shape 21"/>
          <p:cNvSpPr/>
          <p:nvPr/>
        </p:nvSpPr>
        <p:spPr>
          <a:xfrm>
            <a:off x="9061704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27" name="Image 3" descr="icons/alert_cor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2522" y="2563978"/>
            <a:ext cx="358445" cy="35844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753344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s-CL" sz="1600" noProof="0" dirty="0"/>
          </a:p>
        </p:txBody>
      </p:sp>
      <p:sp>
        <p:nvSpPr>
          <p:cNvPr id="29" name="Text 23"/>
          <p:cNvSpPr/>
          <p:nvPr/>
        </p:nvSpPr>
        <p:spPr>
          <a:xfrm>
            <a:off x="9061704" y="32004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5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detecta tarde</a:t>
            </a:r>
            <a:endParaRPr lang="es-CL" sz="1550" noProof="0" dirty="0"/>
          </a:p>
        </p:txBody>
      </p:sp>
      <p:sp>
        <p:nvSpPr>
          <p:cNvPr id="30" name="Text 24"/>
          <p:cNvSpPr/>
          <p:nvPr/>
        </p:nvSpPr>
        <p:spPr>
          <a:xfrm>
            <a:off x="9061704" y="379476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150" noProof="0" dirty="0">
                <a:solidFill>
                  <a:srgbClr val="FF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aparece cuando la persona ya se descompensó, faltó a su hora o llegó a urgencias.</a:t>
            </a:r>
            <a:endParaRPr lang="es-CL" sz="1150" noProof="0" dirty="0"/>
          </a:p>
        </p:txBody>
      </p:sp>
      <p:sp>
        <p:nvSpPr>
          <p:cNvPr id="31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 — Seguimiento Cardiovascular PSCV</a:t>
            </a:r>
            <a:endParaRPr lang="es-CL" sz="1000" noProof="0" dirty="0"/>
          </a:p>
        </p:txBody>
      </p:sp>
      <p:sp>
        <p:nvSpPr>
          <p:cNvPr id="32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0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CL" sz="10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40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Nuestra solución: Proyecto </a:t>
            </a:r>
            <a:r>
              <a:rPr lang="es-CL" sz="3400" b="1" noProof="0" dirty="0" err="1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PreventAI</a:t>
            </a:r>
            <a:r>
              <a:rPr lang="es-CL" sz="340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(CAMI)</a:t>
            </a:r>
            <a:endParaRPr lang="es-CL" sz="34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6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asistente de voz que llama por teléfono a los pacientes del PSCV cada algunas semanas, para acortar el tiempo entre un control y otro.</a:t>
            </a:r>
            <a:endParaRPr lang="es-CL" sz="16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657600" cy="3794760"/>
          </a:xfrm>
          <a:prstGeom prst="roundRect">
            <a:avLst>
              <a:gd name="adj" fmla="val 3000"/>
            </a:avLst>
          </a:prstGeom>
          <a:solidFill>
            <a:srgbClr val="1B3B5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1188720" y="2788920"/>
            <a:ext cx="1371600" cy="1371600"/>
          </a:xfrm>
          <a:prstGeom prst="ellipse">
            <a:avLst/>
          </a:prstGeom>
          <a:solidFill>
            <a:srgbClr val="E2543A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6" name="Image 0" descr="icons/pho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620" y="313182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4434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8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todos los días.</a:t>
            </a:r>
            <a:endParaRPr lang="es-CL" sz="1800" noProof="0" dirty="0"/>
          </a:p>
        </p:txBody>
      </p:sp>
      <p:sp>
        <p:nvSpPr>
          <p:cNvPr id="8" name="Text 5"/>
          <p:cNvSpPr/>
          <p:nvPr/>
        </p:nvSpPr>
        <p:spPr>
          <a:xfrm>
            <a:off x="960120" y="48920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CL" sz="1300" noProof="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algunas semanas, para todos los pacientes del programa — no solo los de riesgo alto.</a:t>
            </a:r>
            <a:endParaRPr lang="es-CL" sz="1300" noProof="0" dirty="0"/>
          </a:p>
        </p:txBody>
      </p:sp>
      <p:sp>
        <p:nvSpPr>
          <p:cNvPr id="9" name="Shape 6"/>
          <p:cNvSpPr/>
          <p:nvPr/>
        </p:nvSpPr>
        <p:spPr>
          <a:xfrm>
            <a:off x="4572000" y="2240280"/>
            <a:ext cx="69494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B5F">
                <a:alpha val="13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7"/>
          <p:cNvSpPr/>
          <p:nvPr/>
        </p:nvSpPr>
        <p:spPr>
          <a:xfrm>
            <a:off x="4800600" y="2459736"/>
            <a:ext cx="731520" cy="731520"/>
          </a:xfrm>
          <a:prstGeom prst="ellipse">
            <a:avLst/>
          </a:prstGeom>
          <a:solidFill>
            <a:srgbClr val="4FA8A0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1" name="Image 1" descr="icons/clip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534" y="2620670"/>
            <a:ext cx="409651" cy="4096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15000" y="238658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5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cortas y semanales</a:t>
            </a:r>
            <a:endParaRPr lang="es-CL" sz="1550" noProof="0" dirty="0"/>
          </a:p>
        </p:txBody>
      </p:sp>
      <p:sp>
        <p:nvSpPr>
          <p:cNvPr id="13" name="Text 9"/>
          <p:cNvSpPr/>
          <p:nvPr/>
        </p:nvSpPr>
        <p:spPr>
          <a:xfrm>
            <a:off x="5715000" y="277063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s-CL" sz="12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arterial, medicamentos y síntomas de la última semana.</a:t>
            </a:r>
            <a:endParaRPr lang="es-CL" sz="1200" noProof="0" dirty="0"/>
          </a:p>
        </p:txBody>
      </p:sp>
      <p:sp>
        <p:nvSpPr>
          <p:cNvPr id="14" name="Shape 10"/>
          <p:cNvSpPr/>
          <p:nvPr/>
        </p:nvSpPr>
        <p:spPr>
          <a:xfrm>
            <a:off x="4572000" y="3538728"/>
            <a:ext cx="69494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B5F">
                <a:alpha val="13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Shape 11"/>
          <p:cNvSpPr/>
          <p:nvPr/>
        </p:nvSpPr>
        <p:spPr>
          <a:xfrm>
            <a:off x="4800600" y="3758184"/>
            <a:ext cx="731520" cy="731520"/>
          </a:xfrm>
          <a:prstGeom prst="ellipse">
            <a:avLst/>
          </a:prstGeom>
          <a:solidFill>
            <a:srgbClr val="4FA8A0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6" name="Image 2" descr="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534" y="3919118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15000" y="368503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5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reemplaza al equipo de salud</a:t>
            </a:r>
            <a:endParaRPr lang="es-CL" sz="1550" noProof="0" dirty="0"/>
          </a:p>
        </p:txBody>
      </p:sp>
      <p:sp>
        <p:nvSpPr>
          <p:cNvPr id="18" name="Text 13"/>
          <p:cNvSpPr/>
          <p:nvPr/>
        </p:nvSpPr>
        <p:spPr>
          <a:xfrm>
            <a:off x="5715000" y="40690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s-CL" sz="12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 no diagnostica ni decide: organiza la información para que el equipo priorice.</a:t>
            </a:r>
            <a:endParaRPr lang="es-CL" sz="1200" noProof="0" dirty="0"/>
          </a:p>
        </p:txBody>
      </p:sp>
      <p:sp>
        <p:nvSpPr>
          <p:cNvPr id="19" name="Shape 14"/>
          <p:cNvSpPr/>
          <p:nvPr/>
        </p:nvSpPr>
        <p:spPr>
          <a:xfrm>
            <a:off x="4572000" y="4837176"/>
            <a:ext cx="69494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B5F">
                <a:alpha val="13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Shape 15"/>
          <p:cNvSpPr/>
          <p:nvPr/>
        </p:nvSpPr>
        <p:spPr>
          <a:xfrm>
            <a:off x="4800600" y="5056632"/>
            <a:ext cx="731520" cy="731520"/>
          </a:xfrm>
          <a:prstGeom prst="ellipse">
            <a:avLst/>
          </a:prstGeom>
          <a:solidFill>
            <a:srgbClr val="4FA8A0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21" name="Image 3" descr="icon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534" y="5217566"/>
            <a:ext cx="409651" cy="4096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0" y="49834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5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Llega a quienes hoy no se contacta</a:t>
            </a:r>
            <a:endParaRPr lang="es-CL" sz="1550" noProof="0" dirty="0"/>
          </a:p>
        </p:txBody>
      </p:sp>
      <p:sp>
        <p:nvSpPr>
          <p:cNvPr id="23" name="Text 17"/>
          <p:cNvSpPr/>
          <p:nvPr/>
        </p:nvSpPr>
        <p:spPr>
          <a:xfrm>
            <a:off x="5715000" y="536752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s-CL" sz="12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Amplía la cobertura del seguimiento a todos los niveles de riesgo, no solo al alto.</a:t>
            </a:r>
            <a:endParaRPr lang="es-CL" sz="1200" noProof="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 — Seguimiento Cardiovascular PSCV</a:t>
            </a:r>
            <a:endParaRPr lang="es-CL" sz="1000" noProof="0" dirty="0"/>
          </a:p>
        </p:txBody>
      </p:sp>
      <p:sp>
        <p:nvSpPr>
          <p:cNvPr id="25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0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CL" sz="10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40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funciona?</a:t>
            </a:r>
            <a:endParaRPr lang="es-CL" sz="34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llamada a una lista priorizada para el equipo de salud.</a:t>
            </a:r>
            <a:endParaRPr lang="es-CL" sz="16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3657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B3B5F">
                <a:alpha val="13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rgbClr val="4FA8A0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6" name="Image 0" descr="icons/phon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" y="25740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91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0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Llamada breve</a:t>
            </a:r>
            <a:endParaRPr lang="es-CL" sz="1500" noProof="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6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 llama al paciente y hace preguntas cortas sobre la última semana.</a:t>
            </a:r>
            <a:endParaRPr lang="es-CL" sz="1600" noProof="0" dirty="0"/>
          </a:p>
        </p:txBody>
      </p:sp>
      <p:sp>
        <p:nvSpPr>
          <p:cNvPr id="9" name="Text 6"/>
          <p:cNvSpPr/>
          <p:nvPr/>
        </p:nvSpPr>
        <p:spPr>
          <a:xfrm>
            <a:off x="3163824" y="365760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600" b="1" noProof="0" dirty="0">
                <a:solidFill>
                  <a:srgbClr val="B9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s-CL" sz="2600" noProof="0" dirty="0"/>
          </a:p>
        </p:txBody>
      </p:sp>
      <p:sp>
        <p:nvSpPr>
          <p:cNvPr id="10" name="Shape 7"/>
          <p:cNvSpPr/>
          <p:nvPr/>
        </p:nvSpPr>
        <p:spPr>
          <a:xfrm>
            <a:off x="3355848" y="2148840"/>
            <a:ext cx="2514600" cy="3657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B3B5F">
                <a:alpha val="13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Shape 8"/>
          <p:cNvSpPr/>
          <p:nvPr/>
        </p:nvSpPr>
        <p:spPr>
          <a:xfrm>
            <a:off x="3630168" y="2423160"/>
            <a:ext cx="685800" cy="685800"/>
          </a:xfrm>
          <a:prstGeom prst="ellipse">
            <a:avLst/>
          </a:prstGeom>
          <a:solidFill>
            <a:srgbClr val="4FA8A0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2" name="Image 1" descr="icons/clip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044" y="257403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0168" y="3291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0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Respuestas registradas</a:t>
            </a:r>
            <a:endParaRPr lang="es-CL" sz="1500" noProof="0" dirty="0"/>
          </a:p>
        </p:txBody>
      </p:sp>
      <p:sp>
        <p:nvSpPr>
          <p:cNvPr id="14" name="Text 10"/>
          <p:cNvSpPr/>
          <p:nvPr/>
        </p:nvSpPr>
        <p:spPr>
          <a:xfrm>
            <a:off x="3630168" y="388620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6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Presión, medicamentos y síntomas quedan registrados tal como los cuenta el paciente.</a:t>
            </a:r>
            <a:endParaRPr lang="es-CL" sz="1600" noProof="0" dirty="0"/>
          </a:p>
        </p:txBody>
      </p:sp>
      <p:sp>
        <p:nvSpPr>
          <p:cNvPr id="15" name="Text 11"/>
          <p:cNvSpPr/>
          <p:nvPr/>
        </p:nvSpPr>
        <p:spPr>
          <a:xfrm>
            <a:off x="5879592" y="365760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600" b="1" noProof="0" dirty="0">
                <a:solidFill>
                  <a:srgbClr val="B9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s-CL" sz="2600" noProof="0" dirty="0"/>
          </a:p>
        </p:txBody>
      </p:sp>
      <p:sp>
        <p:nvSpPr>
          <p:cNvPr id="16" name="Shape 12"/>
          <p:cNvSpPr/>
          <p:nvPr/>
        </p:nvSpPr>
        <p:spPr>
          <a:xfrm>
            <a:off x="6071616" y="2148840"/>
            <a:ext cx="2514600" cy="3657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1B3B5F">
                <a:alpha val="13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Shape 13"/>
          <p:cNvSpPr/>
          <p:nvPr/>
        </p:nvSpPr>
        <p:spPr>
          <a:xfrm>
            <a:off x="6345936" y="2423160"/>
            <a:ext cx="685800" cy="685800"/>
          </a:xfrm>
          <a:prstGeom prst="ellipse">
            <a:avLst/>
          </a:prstGeom>
          <a:solidFill>
            <a:srgbClr val="E2543A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8" name="Image 2" descr="icons/ale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257403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45936" y="3291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0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Detección de alertas</a:t>
            </a:r>
            <a:endParaRPr lang="es-CL" sz="1500" noProof="0" dirty="0"/>
          </a:p>
        </p:txBody>
      </p:sp>
      <p:sp>
        <p:nvSpPr>
          <p:cNvPr id="20" name="Text 15"/>
          <p:cNvSpPr/>
          <p:nvPr/>
        </p:nvSpPr>
        <p:spPr>
          <a:xfrm>
            <a:off x="6345936" y="388620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6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una señal grave y actual, deriva de inmediato a atención de urgencia.</a:t>
            </a:r>
            <a:endParaRPr lang="es-CL" sz="1600" noProof="0" dirty="0"/>
          </a:p>
        </p:txBody>
      </p:sp>
      <p:sp>
        <p:nvSpPr>
          <p:cNvPr id="21" name="Text 16"/>
          <p:cNvSpPr/>
          <p:nvPr/>
        </p:nvSpPr>
        <p:spPr>
          <a:xfrm>
            <a:off x="8595360" y="3657600"/>
            <a:ext cx="182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600" b="1" noProof="0" dirty="0">
                <a:solidFill>
                  <a:srgbClr val="B9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s-CL" sz="2600" noProof="0" dirty="0"/>
          </a:p>
        </p:txBody>
      </p:sp>
      <p:sp>
        <p:nvSpPr>
          <p:cNvPr id="22" name="Shape 17"/>
          <p:cNvSpPr/>
          <p:nvPr/>
        </p:nvSpPr>
        <p:spPr>
          <a:xfrm>
            <a:off x="8787384" y="2148840"/>
            <a:ext cx="2514600" cy="3657600"/>
          </a:xfrm>
          <a:prstGeom prst="roundRect">
            <a:avLst>
              <a:gd name="adj" fmla="val 3636"/>
            </a:avLst>
          </a:prstGeom>
          <a:solidFill>
            <a:srgbClr val="1B3B5F"/>
          </a:solidFill>
          <a:ln/>
          <a:effectLst>
            <a:outerShdw blurRad="88900" dist="38100" dir="5400000" algn="bl" rotWithShape="0">
              <a:srgbClr val="1B3B5F">
                <a:alpha val="13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23" name="Shape 18"/>
          <p:cNvSpPr/>
          <p:nvPr/>
        </p:nvSpPr>
        <p:spPr>
          <a:xfrm>
            <a:off x="9061704" y="2423160"/>
            <a:ext cx="685800" cy="685800"/>
          </a:xfrm>
          <a:prstGeom prst="ellipse">
            <a:avLst/>
          </a:prstGeom>
          <a:solidFill>
            <a:srgbClr val="4FA8A0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24" name="Image 3" descr="icons/nur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2580" y="2574036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61704" y="32918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Lista para el </a:t>
            </a:r>
            <a:r>
              <a:rPr lang="es-CL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de la salud</a:t>
            </a:r>
            <a:endParaRPr lang="es-CL" sz="1500" noProof="0" dirty="0"/>
          </a:p>
        </p:txBody>
      </p:sp>
      <p:sp>
        <p:nvSpPr>
          <p:cNvPr id="26" name="Text 20"/>
          <p:cNvSpPr/>
          <p:nvPr/>
        </p:nvSpPr>
        <p:spPr>
          <a:xfrm>
            <a:off x="9061704" y="3886200"/>
            <a:ext cx="1965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600" noProof="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recibe una lista ordenada con contexto de cada paciente, para decidir a quién atender.</a:t>
            </a:r>
            <a:endParaRPr lang="es-CL" sz="1600" noProof="0" dirty="0"/>
          </a:p>
        </p:txBody>
      </p:sp>
      <p:sp>
        <p:nvSpPr>
          <p:cNvPr id="27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 — Seguimiento Cardiovascular PSCV</a:t>
            </a:r>
            <a:endParaRPr lang="es-CL" sz="1000" noProof="0" dirty="0"/>
          </a:p>
        </p:txBody>
      </p:sp>
      <p:sp>
        <p:nvSpPr>
          <p:cNvPr id="28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0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s-CL" sz="10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decisión clínica siempre es humana</a:t>
            </a:r>
            <a:endParaRPr lang="es-CL" sz="30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500" noProof="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 escucha, detecta y ordena. Nunca reemplaza el juicio clínico del equipo de salud.</a:t>
            </a:r>
            <a:endParaRPr lang="es-CL" sz="15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392424" cy="3840480"/>
          </a:xfrm>
          <a:prstGeom prst="roundRect">
            <a:avLst>
              <a:gd name="adj" fmla="val 3235"/>
            </a:avLst>
          </a:prstGeom>
          <a:solidFill>
            <a:srgbClr val="1B3B5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960120" y="2468880"/>
            <a:ext cx="777240" cy="777240"/>
          </a:xfrm>
          <a:prstGeom prst="ellipse">
            <a:avLst/>
          </a:prstGeom>
          <a:solidFill>
            <a:srgbClr val="E2543A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6" name="Image 0" descr="icons/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113" y="2639873"/>
            <a:ext cx="435254" cy="435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429000"/>
            <a:ext cx="2752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 emergencias reales</a:t>
            </a:r>
            <a:endParaRPr lang="es-CL" sz="1700" noProof="0" dirty="0"/>
          </a:p>
        </p:txBody>
      </p:sp>
      <p:sp>
        <p:nvSpPr>
          <p:cNvPr id="8" name="Text 5"/>
          <p:cNvSpPr/>
          <p:nvPr/>
        </p:nvSpPr>
        <p:spPr>
          <a:xfrm>
            <a:off x="960120" y="3977640"/>
            <a:ext cx="2752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CL" sz="1250" noProof="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detecta una señal grave y actual (dolor de pecho, falta de aire, desmayo), indica llamar de inmediato al 131.</a:t>
            </a:r>
            <a:endParaRPr lang="es-CL" sz="1250" noProof="0" dirty="0"/>
          </a:p>
        </p:txBody>
      </p:sp>
      <p:sp>
        <p:nvSpPr>
          <p:cNvPr id="9" name="Shape 6"/>
          <p:cNvSpPr/>
          <p:nvPr/>
        </p:nvSpPr>
        <p:spPr>
          <a:xfrm>
            <a:off x="4398264" y="2148840"/>
            <a:ext cx="3392424" cy="3840480"/>
          </a:xfrm>
          <a:prstGeom prst="roundRect">
            <a:avLst>
              <a:gd name="adj" fmla="val 3235"/>
            </a:avLst>
          </a:prstGeom>
          <a:solidFill>
            <a:srgbClr val="1B3B5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7"/>
          <p:cNvSpPr/>
          <p:nvPr/>
        </p:nvSpPr>
        <p:spPr>
          <a:xfrm>
            <a:off x="4718304" y="2468880"/>
            <a:ext cx="777240" cy="777240"/>
          </a:xfrm>
          <a:prstGeom prst="ellipse">
            <a:avLst/>
          </a:prstGeom>
          <a:solidFill>
            <a:srgbClr val="E2543A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1" name="Image 1" descr="icons/shiel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297" y="2639873"/>
            <a:ext cx="435254" cy="435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18304" y="3429000"/>
            <a:ext cx="2752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 diagnostica</a:t>
            </a:r>
            <a:endParaRPr lang="es-CL" sz="1700" noProof="0" dirty="0"/>
          </a:p>
        </p:txBody>
      </p:sp>
      <p:sp>
        <p:nvSpPr>
          <p:cNvPr id="13" name="Text 9"/>
          <p:cNvSpPr/>
          <p:nvPr/>
        </p:nvSpPr>
        <p:spPr>
          <a:xfrm>
            <a:off x="4718304" y="3977640"/>
            <a:ext cx="2752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CL" sz="1250" noProof="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interpreta exámenes, no indica tratamientos ni sugiere cambios de medicamentos.</a:t>
            </a:r>
            <a:endParaRPr lang="es-CL" sz="1250" noProof="0" dirty="0"/>
          </a:p>
        </p:txBody>
      </p:sp>
      <p:sp>
        <p:nvSpPr>
          <p:cNvPr id="14" name="Shape 10"/>
          <p:cNvSpPr/>
          <p:nvPr/>
        </p:nvSpPr>
        <p:spPr>
          <a:xfrm>
            <a:off x="8156448" y="2148840"/>
            <a:ext cx="3392424" cy="3840480"/>
          </a:xfrm>
          <a:prstGeom prst="roundRect">
            <a:avLst>
              <a:gd name="adj" fmla="val 3235"/>
            </a:avLst>
          </a:prstGeom>
          <a:solidFill>
            <a:srgbClr val="1B3B5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Shape 11"/>
          <p:cNvSpPr/>
          <p:nvPr/>
        </p:nvSpPr>
        <p:spPr>
          <a:xfrm>
            <a:off x="8476488" y="2468880"/>
            <a:ext cx="777240" cy="777240"/>
          </a:xfrm>
          <a:prstGeom prst="ellipse">
            <a:avLst/>
          </a:prstGeom>
          <a:solidFill>
            <a:srgbClr val="E2543A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6" name="Image 2" descr="icons/nur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7481" y="2639873"/>
            <a:ext cx="435254" cy="435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6488" y="3429000"/>
            <a:ext cx="2752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TENS decide</a:t>
            </a:r>
            <a:endParaRPr lang="es-CL" sz="1700" noProof="0" dirty="0"/>
          </a:p>
        </p:txBody>
      </p:sp>
      <p:sp>
        <p:nvSpPr>
          <p:cNvPr id="18" name="Text 13"/>
          <p:cNvSpPr/>
          <p:nvPr/>
        </p:nvSpPr>
        <p:spPr>
          <a:xfrm>
            <a:off x="8476488" y="3977640"/>
            <a:ext cx="2752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CL" sz="1250" noProof="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 entrega información ordenada y con contexto; la persona con formación clínica decide a quién atender primero.</a:t>
            </a:r>
            <a:endParaRPr lang="es-CL" sz="1250" noProof="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 — Seguimiento Cardiovascular PSCV</a:t>
            </a:r>
            <a:endParaRPr lang="es-CL" sz="1000" noProof="0" dirty="0"/>
          </a:p>
        </p:txBody>
      </p:sp>
      <p:sp>
        <p:nvSpPr>
          <p:cNvPr id="20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0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s-CL" sz="10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40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que buscamos</a:t>
            </a:r>
            <a:endParaRPr lang="es-CL" sz="34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6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cobertura, controles más seguidos y un equipo de salud enfocado en quien más lo necesita.</a:t>
            </a:r>
            <a:endParaRPr lang="es-CL" sz="16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3B5F">
                <a:alpha val="1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960120" y="2606040"/>
            <a:ext cx="731520" cy="731520"/>
          </a:xfrm>
          <a:prstGeom prst="ellipse">
            <a:avLst/>
          </a:prstGeom>
          <a:solidFill>
            <a:srgbClr val="4FA8A0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6" name="Image 0" descr="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054" y="276697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52044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cobertura</a:t>
            </a:r>
            <a:endParaRPr lang="es-CL" sz="1700" noProof="0" dirty="0"/>
          </a:p>
        </p:txBody>
      </p:sp>
      <p:sp>
        <p:nvSpPr>
          <p:cNvPr id="8" name="Text 5"/>
          <p:cNvSpPr/>
          <p:nvPr/>
        </p:nvSpPr>
        <p:spPr>
          <a:xfrm>
            <a:off x="960120" y="4023360"/>
            <a:ext cx="27523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6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para todos los niveles de riesgo, no solo los pacientes de riesgo alto.</a:t>
            </a:r>
            <a:endParaRPr lang="es-CL" sz="1600" noProof="0" dirty="0"/>
          </a:p>
        </p:txBody>
      </p:sp>
      <p:sp>
        <p:nvSpPr>
          <p:cNvPr id="9" name="Shape 6"/>
          <p:cNvSpPr/>
          <p:nvPr/>
        </p:nvSpPr>
        <p:spPr>
          <a:xfrm>
            <a:off x="4398264" y="228600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3B5F">
                <a:alpha val="1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7"/>
          <p:cNvSpPr/>
          <p:nvPr/>
        </p:nvSpPr>
        <p:spPr>
          <a:xfrm>
            <a:off x="4718304" y="2606040"/>
            <a:ext cx="731520" cy="731520"/>
          </a:xfrm>
          <a:prstGeom prst="ellipse">
            <a:avLst/>
          </a:prstGeom>
          <a:solidFill>
            <a:srgbClr val="4FA8A0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1" name="Image 1" descr="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238" y="276697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18304" y="352044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Controles más seguidos</a:t>
            </a:r>
            <a:endParaRPr lang="es-CL" sz="1700" noProof="0" dirty="0"/>
          </a:p>
        </p:txBody>
      </p:sp>
      <p:sp>
        <p:nvSpPr>
          <p:cNvPr id="13" name="Text 9"/>
          <p:cNvSpPr/>
          <p:nvPr/>
        </p:nvSpPr>
        <p:spPr>
          <a:xfrm>
            <a:off x="4718304" y="4023360"/>
            <a:ext cx="27523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6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acorta el tiempo entre un control presencial y otro, reduciendo el vacío de meses.</a:t>
            </a:r>
            <a:endParaRPr lang="es-CL" sz="1600" noProof="0" dirty="0"/>
          </a:p>
        </p:txBody>
      </p:sp>
      <p:sp>
        <p:nvSpPr>
          <p:cNvPr id="14" name="Shape 10"/>
          <p:cNvSpPr/>
          <p:nvPr/>
        </p:nvSpPr>
        <p:spPr>
          <a:xfrm>
            <a:off x="8156448" y="2286000"/>
            <a:ext cx="3392424" cy="3566160"/>
          </a:xfrm>
          <a:prstGeom prst="roundRect">
            <a:avLst>
              <a:gd name="adj" fmla="val 323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3B5F">
                <a:alpha val="15000"/>
              </a:srgbClr>
            </a:outerShdw>
          </a:effectLst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Shape 11"/>
          <p:cNvSpPr/>
          <p:nvPr/>
        </p:nvSpPr>
        <p:spPr>
          <a:xfrm>
            <a:off x="8476488" y="2606040"/>
            <a:ext cx="731520" cy="731520"/>
          </a:xfrm>
          <a:prstGeom prst="ellipse">
            <a:avLst/>
          </a:prstGeom>
          <a:solidFill>
            <a:srgbClr val="4FA8A0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6" name="Image 2" descr="icons/nur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7422" y="2766974"/>
            <a:ext cx="409651" cy="4096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6488" y="3520440"/>
            <a:ext cx="2752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 más productivo</a:t>
            </a:r>
            <a:endParaRPr lang="es-CL" sz="1700" noProof="0" dirty="0"/>
          </a:p>
        </p:txBody>
      </p:sp>
      <p:sp>
        <p:nvSpPr>
          <p:cNvPr id="18" name="Text 13"/>
          <p:cNvSpPr/>
          <p:nvPr/>
        </p:nvSpPr>
        <p:spPr>
          <a:xfrm>
            <a:off x="8476488" y="4023360"/>
            <a:ext cx="27523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L" sz="16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permite a </a:t>
            </a:r>
            <a:r>
              <a:rPr lang="es-CL" sz="1600" noProof="0" dirty="0" err="1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l@s</a:t>
            </a:r>
            <a:r>
              <a:rPr lang="es-CL" sz="16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TENS dejar horas significativas de trabajo significativo administrativo y poder dedicarse a trabajo de tiempo clínico</a:t>
            </a:r>
            <a:endParaRPr lang="es-CL" sz="1600" noProof="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 — Seguimiento Cardiovascular PSCV</a:t>
            </a:r>
            <a:endParaRPr lang="es-CL" sz="1000" noProof="0" dirty="0"/>
          </a:p>
        </p:txBody>
      </p:sp>
      <p:sp>
        <p:nvSpPr>
          <p:cNvPr id="20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0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s-CL" sz="10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00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llamada telefónica y no una app?</a:t>
            </a:r>
            <a:endParaRPr lang="es-CL" sz="3000" noProof="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206240" cy="4572000"/>
          </a:xfrm>
          <a:prstGeom prst="roundRect">
            <a:avLst>
              <a:gd name="adj" fmla="val 2609"/>
            </a:avLst>
          </a:prstGeom>
          <a:solidFill>
            <a:srgbClr val="1B3B5F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4" name="Shape 2"/>
          <p:cNvSpPr/>
          <p:nvPr/>
        </p:nvSpPr>
        <p:spPr>
          <a:xfrm>
            <a:off x="1051560" y="1920240"/>
            <a:ext cx="1371600" cy="1371600"/>
          </a:xfrm>
          <a:prstGeom prst="ellipse">
            <a:avLst/>
          </a:prstGeom>
          <a:solidFill>
            <a:srgbClr val="24466B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5" name="Image 0" descr="icons/mob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226314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35204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CL" sz="1700" b="1" i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“Llega también a la gente que no usa aplicaciones.”</a:t>
            </a:r>
            <a:endParaRPr lang="es-CL" sz="1700" noProof="0" dirty="0"/>
          </a:p>
        </p:txBody>
      </p:sp>
      <p:sp>
        <p:nvSpPr>
          <p:cNvPr id="7" name="Text 4"/>
          <p:cNvSpPr/>
          <p:nvPr/>
        </p:nvSpPr>
        <p:spPr>
          <a:xfrm>
            <a:off x="960120" y="5074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250" noProof="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los pacientes del PSCV son adultos mayores, personas sin internet, zonas aisladas.</a:t>
            </a:r>
            <a:endParaRPr lang="es-CL" sz="1250" noProof="0" dirty="0"/>
          </a:p>
        </p:txBody>
      </p:sp>
      <p:sp>
        <p:nvSpPr>
          <p:cNvPr id="8" name="Shape 5"/>
          <p:cNvSpPr/>
          <p:nvPr/>
        </p:nvSpPr>
        <p:spPr>
          <a:xfrm>
            <a:off x="5166360" y="1554480"/>
            <a:ext cx="777240" cy="777240"/>
          </a:xfrm>
          <a:prstGeom prst="ellipse">
            <a:avLst/>
          </a:prstGeom>
          <a:solidFill>
            <a:srgbClr val="4FA8A0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9" name="Image 1" descr="icons/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7353" y="1725473"/>
            <a:ext cx="435254" cy="4352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0" y="152704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barreras tecnológicas</a:t>
            </a:r>
            <a:endParaRPr lang="es-CL" sz="1700" noProof="0" dirty="0"/>
          </a:p>
        </p:txBody>
      </p:sp>
      <p:sp>
        <p:nvSpPr>
          <p:cNvPr id="11" name="Text 7"/>
          <p:cNvSpPr/>
          <p:nvPr/>
        </p:nvSpPr>
        <p:spPr>
          <a:xfrm>
            <a:off x="6126480" y="159562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CL" sz="135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instalar nada, solo tener un celular.</a:t>
            </a:r>
            <a:endParaRPr lang="es-CL" sz="1350" noProof="0" dirty="0"/>
          </a:p>
        </p:txBody>
      </p:sp>
      <p:sp>
        <p:nvSpPr>
          <p:cNvPr id="12" name="Shape 8"/>
          <p:cNvSpPr/>
          <p:nvPr/>
        </p:nvSpPr>
        <p:spPr>
          <a:xfrm>
            <a:off x="5166360" y="3063240"/>
            <a:ext cx="777240" cy="777240"/>
          </a:xfrm>
          <a:prstGeom prst="ellipse">
            <a:avLst/>
          </a:prstGeom>
          <a:solidFill>
            <a:srgbClr val="4FA8A0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13" name="Image 2" descr="icons/heartbea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7353" y="3234233"/>
            <a:ext cx="435254" cy="4352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303580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1700" b="1" noProof="0" dirty="0">
                <a:solidFill>
                  <a:srgbClr val="1B3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Detección a tiempo salva vidas</a:t>
            </a:r>
            <a:endParaRPr lang="es-CL" sz="1700" noProof="0" dirty="0"/>
          </a:p>
        </p:txBody>
      </p:sp>
      <p:sp>
        <p:nvSpPr>
          <p:cNvPr id="15" name="Text 10"/>
          <p:cNvSpPr/>
          <p:nvPr/>
        </p:nvSpPr>
        <p:spPr>
          <a:xfrm>
            <a:off x="6126480" y="3198114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CL" sz="135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a alguien que se quedó sin medicamentos puede evitar un infarto.</a:t>
            </a:r>
            <a:endParaRPr lang="es-CL" sz="1350" noProof="0" dirty="0"/>
          </a:p>
        </p:txBody>
      </p:sp>
      <p:pic>
        <p:nvPicPr>
          <p:cNvPr id="17" name="Image 3" descr="icons/c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7353" y="4742993"/>
            <a:ext cx="435254" cy="43525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 — Seguimiento Cardiovascular PSCV</a:t>
            </a:r>
            <a:endParaRPr lang="es-CL" sz="1000" noProof="0" dirty="0"/>
          </a:p>
        </p:txBody>
      </p:sp>
      <p:sp>
        <p:nvSpPr>
          <p:cNvPr id="21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000" noProof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s-CL" sz="10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114800"/>
            <a:ext cx="5029200" cy="5029200"/>
          </a:xfrm>
          <a:prstGeom prst="ellipse">
            <a:avLst/>
          </a:prstGeom>
          <a:solidFill>
            <a:srgbClr val="1B3B5F">
              <a:alpha val="60000"/>
            </a:srgbClr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3" name="Shape 1"/>
          <p:cNvSpPr/>
          <p:nvPr/>
        </p:nvSpPr>
        <p:spPr>
          <a:xfrm>
            <a:off x="9875520" y="-1828800"/>
            <a:ext cx="4206240" cy="4206240"/>
          </a:xfrm>
          <a:prstGeom prst="ellipse">
            <a:avLst/>
          </a:prstGeom>
          <a:solidFill>
            <a:srgbClr val="4FA8A0">
              <a:alpha val="25000"/>
            </a:srgbClr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4" name="Shape 2"/>
          <p:cNvSpPr/>
          <p:nvPr/>
        </p:nvSpPr>
        <p:spPr>
          <a:xfrm>
            <a:off x="5591556" y="685800"/>
            <a:ext cx="1005840" cy="1005840"/>
          </a:xfrm>
          <a:prstGeom prst="ellipse">
            <a:avLst/>
          </a:prstGeom>
          <a:solidFill>
            <a:srgbClr val="E2543A"/>
          </a:solidFill>
          <a:ln/>
        </p:spPr>
        <p:txBody>
          <a:bodyPr/>
          <a:lstStyle/>
          <a:p>
            <a:endParaRPr lang="es-CL" noProof="0" dirty="0"/>
          </a:p>
        </p:txBody>
      </p:sp>
      <p:pic>
        <p:nvPicPr>
          <p:cNvPr id="5" name="Image 0" descr="icons/heartbe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870" y="91211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0116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2600" b="1" i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 motiva que la tecnología ayude a quien más lo necesita.</a:t>
            </a:r>
            <a:endParaRPr lang="es-CL" sz="2600" noProof="0" dirty="0"/>
          </a:p>
        </p:txBody>
      </p:sp>
      <p:sp>
        <p:nvSpPr>
          <p:cNvPr id="7" name="Text 4"/>
          <p:cNvSpPr/>
          <p:nvPr/>
        </p:nvSpPr>
        <p:spPr>
          <a:xfrm>
            <a:off x="1965960" y="3429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s-CL" sz="1500" noProof="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Queremos poner a prueba nuestras habilidades como equipo, ganar experiencia con un problema real, y aliviar la carga de quienes trabajan hoy en los CESFAM.</a:t>
            </a:r>
            <a:endParaRPr lang="es-CL" sz="1500" noProof="0" dirty="0"/>
          </a:p>
        </p:txBody>
      </p:sp>
      <p:sp>
        <p:nvSpPr>
          <p:cNvPr id="8" name="Shape 5"/>
          <p:cNvSpPr/>
          <p:nvPr/>
        </p:nvSpPr>
        <p:spPr>
          <a:xfrm>
            <a:off x="5175504" y="4709160"/>
            <a:ext cx="1828800" cy="0"/>
          </a:xfrm>
          <a:prstGeom prst="line">
            <a:avLst/>
          </a:prstGeom>
          <a:noFill/>
          <a:ln w="12700">
            <a:solidFill>
              <a:srgbClr val="35526E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6"/>
          <p:cNvSpPr/>
          <p:nvPr/>
        </p:nvSpPr>
        <p:spPr>
          <a:xfrm>
            <a:off x="1280160" y="4983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2800" b="1" noProof="0" dirty="0">
                <a:solidFill>
                  <a:srgbClr val="4FA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</a:t>
            </a:r>
            <a:endParaRPr lang="es-CL" sz="2800" noProof="0" dirty="0"/>
          </a:p>
        </p:txBody>
      </p:sp>
      <p:sp>
        <p:nvSpPr>
          <p:cNvPr id="10" name="Text 7"/>
          <p:cNvSpPr/>
          <p:nvPr/>
        </p:nvSpPr>
        <p:spPr>
          <a:xfrm>
            <a:off x="1280160" y="5623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1400" noProof="0" dirty="0">
                <a:solidFill>
                  <a:srgbClr val="94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escucharnos</a:t>
            </a:r>
            <a:endParaRPr lang="es-CL" sz="14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863</Words>
  <Application>Microsoft Office PowerPoint</Application>
  <PresentationFormat>Panorámica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Joaquín Andrés Núñez Sanhueza</cp:lastModifiedBy>
  <cp:revision>5</cp:revision>
  <dcterms:created xsi:type="dcterms:W3CDTF">2026-08-14T18:28:11Z</dcterms:created>
  <dcterms:modified xsi:type="dcterms:W3CDTF">2026-08-14T21:03:08Z</dcterms:modified>
</cp:coreProperties>
</file>